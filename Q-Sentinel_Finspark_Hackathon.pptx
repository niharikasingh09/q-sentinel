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uEAXE/96kaotr0Eu7IvWKDzS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GitHubLink" Type="http://schemas.openxmlformats.org/officeDocument/2006/relationships/hyperlink" Target="https://github.com/niharikasingh09/Q-Sentinel" TargetMode="Externa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DemoVideo" Type="http://schemas.openxmlformats.org/officeDocument/2006/relationships/hyperlink" Target="https://drive.google.com/file/d/1mHcpgtT9RvpUy0gjsJ60eM2NXBmEsJdO/view?usp=sharing" TargetMode="External"/><Relationship Id="rIdGitHubLink" Type="http://schemas.openxmlformats.org/officeDocument/2006/relationships/hyperlink" Target="https://github.com/niharikasingh09/Q-Sentinel" TargetMode="Externa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2879834" y="2853000"/>
            <a:ext cx="6432331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Q-SENTINEL</a:t>
            </a:r>
            <a:b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Finspark Hackathon 2026</a:t>
            </a:r>
            <a:endParaRPr b="1" i="0" sz="32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2096000" y="5022115"/>
            <a:ext cx="8000000" cy="13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FFD4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Name : Quantums</a:t>
            </a:r>
            <a:endParaRPr b="0" i="0" sz="1400" u="none" cap="none" strike="noStrike">
              <a:solidFill>
                <a:srgbClr val="FFD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D44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IN" sz="1000" u="none" cap="all" strike="noStrike" spc="150">
                <a:solidFill>
                  <a:srgbClr val="FFD4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Bio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Niharika Singh</a:t>
            </a:r>
            <a:endParaRPr b="0" i="0" sz="1400" u="none" cap="none" strike="noStrike">
              <a:solidFill>
                <a:srgbClr val="2158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IN" sz="1100" u="none" cap="none" strike="noStrike">
                <a:solidFill>
                  <a:srgbClr val="FFD4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B.Tech (ECE) Final Year Student at Banasthali Vidyapith</a:t>
            </a:r>
            <a:endParaRPr b="0" i="1" sz="1100" u="none" cap="none" strike="noStrike">
              <a:solidFill>
                <a:srgbClr val="FFD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D44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FFD4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Date : 7 July 2026</a:t>
            </a:r>
            <a:endParaRPr b="0" i="0" sz="1400" u="none" cap="none" strike="noStrike">
              <a:solidFill>
                <a:srgbClr val="FFD4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278089" y="586451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278100" y="1162450"/>
            <a:ext cx="83358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IN" sz="16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AI-Driven Correlation of Cybersecurity Telemetry &amp; Transactional Behaviour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Banks today run two parallel universes of data — cybersecurity telemetry (logins, device fingerprints, network traffic, endpoint alerts) and transactional behaviour (payments, transfers, account activity) — that almost never talk to each other. This blind spot lets sophisticated attacks slip through: account-takeover fraud that looks "normal" transactionally, and emerging quantum threats such as Harvest-Now-Decrypt-Later, where adversaries silently exfiltrate encrypted data today to decrypt once quantum computers mature.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IN" sz="14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We Chose It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sits at the exact intersection we are most excited to build in — applied machine learning, explainable security analytics and post-quantum risk — a problem that is urgent for banks today and will only become more critical as quantum computing matures, giving us the chance to build something technically ambitious and genuinely deployable.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356839" y="559523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Pre-Requisite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Data Access: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Simulated/anonymised cybersecurity telemetry (SIEM &amp; IDS logs, login and device-fingerprint events, network flow records) and transactional data (payments, transfers, channel and beneficiary details)</a:t>
            </a: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Labelled History: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Past fraud/incident records for supervised model training, validation and false-positive benchmarking</a:t>
            </a: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Streaming Pipeline: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Event-streaming access (Kafka-style) to core banking and SOC systems for near real-time ingestion</a:t>
            </a: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Compute &amp; Stack: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Cloud/GPU environment (AWS/GCP/Azure) with a Python ML stack for model training and inference</a:t>
            </a: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Enrichment Feeds: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threat-intel (MITRE ATT&amp;CK, CVE/NVD) and cryptographic metadata (certificate types, key lengths) to flag quantum-vulnerable encryption in use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278100" y="6448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or resources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AI &amp; ML: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Python, Scikit-learn, XGBoost and PyTorch for anomaly detection; SHAP/LIME for explainable, audit-ready alerts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Correlation Engine: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Neo4j / NetworkX graph models linking telemetry entities (devices, IPs, sessions) with transaction entities in real time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Streaming &amp; Storage: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Apache Kafka and Spark Structured Streaming for ingestion; PostgreSQL and Elasticsearch for storage and fast search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Quantum Risk Reference: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MITRE ATT&amp;CK and NIST Post-Quantum Cryptography standards (Kyber, Dilithium) to score harvest-now-decrypt-later exposure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Dashboard: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React/Next.js analyst console with Grafana-style live monitoring for SOC and fraud teams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Deployment: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Docker, Kubernetes and MLflow for containerised, versioned model deployment and monitoring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2781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Supporting Functional Documents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1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logic flow of the Q-SENTINEL correlation pipeline, from raw signal to explainable action: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Quattrocento Sans"/>
              <a:buAutoNum type="arabicPeriod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Ingest —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Cybersecurity telemetry and transactional events are streamed in parallel through a common event bus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Quattrocento Sans"/>
              <a:buAutoNum type="arabicPeriod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Resolve Identity —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Users, devices, IPs and accounts are mapped onto a single identity graph; encryption metadata is tagged with a quantum-vulnerability flag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Quattrocento Sans"/>
              <a:buAutoNum type="arabicPeriod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Correlate —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Graph and ML models jointly score anomalies across both streams within a rolling time window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Quattrocento Sans"/>
              <a:buAutoNum type="arabicPeriod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Explain —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SHAP-based reasoning attaches a plain-language rationale to every flagged event, reducing analyst investigation time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Quattrocento Sans"/>
              <a:buAutoNum type="arabicPeriod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Act —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Ranked, explainable alerts are pushed to the SOC/fraud analyst console with a recommended next action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332200" y="66857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Differentiators &amp; Adoption Plan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Unified Signal, Not Two Silos: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tools score cyber risk and fraud risk separately; we jointly correlate telemetry and transactions on one identity graph, catching attacks neither system sees alone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Quantum-Ready, Not Just Quantum-Aware: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are among the few solutions actively scoring harvest-now-decrypt-later exposure, mapped against NIST post-quantum cryptography guidance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Explainable by Design: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alert ships with a plain-language, auditor-friendly rationale — built for RBI/compliance scrutiny, not a black box</a:t>
            </a: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Adoption Plan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Quattrocento Sans"/>
              <a:buAutoNum type="arabicPeriod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Pilot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on one region/branch cluster with shadow-mode alerts → </a:t>
            </a: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Validate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against historical incidents to tune thresholds and cut false positives → </a:t>
            </a: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Scale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bank-wide with live blocking actions and quarterly quantum-readiness scorecards for leadership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427150" y="687325"/>
            <a:ext cx="9634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 &amp; Supporting Diagrams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427139" y="17218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en-IN" sz="16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GitHub: </a:t>
            </a:r>
            <a:r>
              <a:rPr b="0" i="1" lang="en-IN" sz="1600" u="sng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xmlns:r="http://schemas.openxmlformats.org/officeDocument/2006/relationships" r:id="rIdGitHubLink"/>
              </a:rPr>
              <a:t>https://github.com/niharikasingh09/Q-Sentinel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repository contains the correlation engine, the streaming ingestion pipeline, the explainability layer and the analyst-dashboard front end, along with setup instructions and sample synthetic datasets.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Architecture diagram: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 Slide 14 for the full component and data-flow diagram</a:t>
            </a:r>
          </a:p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Prototype screenshots: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 Slide 15 for the analyst dashboard and demo video link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Potential and Relevance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Fraud losses and cyber-incident costs are two of the fastest-growing line items on any bank's risk sheet. Q-SENTINEL turns that cost centre into a measurable, expandable value engine.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65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Direct Loss Prevention: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catching account-takeover and social-engineering fraud earlier by combining behavioural and telemetry signals cuts settlement losses and chargebacks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65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Regulatory Positioning: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gives the bank an early, demonstrable answer to RBI/global post-quantum cryptography migration mandates before they become audit findings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65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Real-World Use Cases: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SOC-fraud fusion centres, mule-account detection, insider-threat monitoring, and third-party/vendor risk scoring across UPI, NEFT/RTGS and card rails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4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Long-Term Applicability: </a:t>
            </a: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same correlation graph extends to insurance, NBFCs and payment aggregators, and the quantum-risk module stays relevant for the entire decade-long PQC migration cycle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Uniqueness of Approach and Solution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Joint Correlation, Not Two Silos: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existing tools run SIEM/fraud engines independently; we fuse both streams on one identity graph so an attack has to evade two correlated views at once, not just one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Quantum Risk as a First-Class Signal: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almost no fraud/security platform today scores harvest-now-decrypt-later exposure; we treat weak/legacy encryption in a data flow as a risk feature the model actively watches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Graph-Aware Anomaly Scoring: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rather than flat feature vectors, we model users, devices and accounts as a connected graph, so coordinated multi-account fraud rings surface naturally instead of hiding in the averages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Built-In Explainability: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score comes with a SHAP-driven, plain-language reason, cutting analyst triage time instead of adding another opaque black-box alert to their queue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034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Experience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One Console, Ranked Alerts: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 and fraud analysts see one unified feed of risk-ranked alerts instead of switching between separate security and fraud tools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One-Click "Why":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alert expands into a plain-language explanation and a linked entity graph, so analysts see evidence instantly instead of digging through raw logs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One-Click Response: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analysts can escalate, freeze, or dismiss directly from the alert card, with every action logged for audit trail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Designed for Non-Technical Reviewers Too: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simplified executive view surfaces weekly trends and quantum-readiness scores for risk committees and leadership, no technical background required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Horizontally Scalable Streaming: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Kafka partitions and Spark worker nodes scale independently, so throughput grows from a single branch pilot to nationwide transaction volumes by adding nodes, not redesigning the pipeline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Multi-Branch, Multi-Segment Ready: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identity graph is tenant-partitioned by branch/region, so new branches, customer segments (retail, SME, corporate) or channels (UPI, cards, net-banking) plug in without retraining the whole system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Cloud-Native Elasticity: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containerised microservices on Kubernetes auto-scale with transaction load, handling festival-season or salary-day spikes without manual intervention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Modular Model Layer: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fraud typologies or quantum-risk rules are added as additional model modules, without disrupting the existing correlation engine or retraining from scratch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344100" y="64482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Ease of Deployment and Maintenance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Containerised Deployment: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component ships as a Docker image with Helm charts, so it installs the same way in a bank's on-prem data centre or private cloud in hours, not weeks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API-First Integration: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connects to existing core-banking and SIEM systems through standard event/REST interfaces — no rip-and-replace of legacy infrastructure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Self-Monitoring Models: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MLflow tracks model drift and accuracy automatically, flagging when retraining is needed instead of relying on manual review cycles</a:t>
            </a:r>
          </a:p>
          <a:p>
            <a:pPr indent="-228600" lvl="0" marL="2286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5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Safe, Incremental Upgrades: </a:t>
            </a:r>
            <a:r>
              <a:rPr b="0" lang="en-IN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detection rules and quantum-risk scoring updates roll out as versioned modules, tested in shadow-mode before going live — zero downtime for analysts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344100" y="65670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Considerations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35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Quantum-Vulnerability Scoring: </a:t>
            </a:r>
            <a:r>
              <a:rPr b="0" lang="en-IN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data flow is tagged by encryption strength, flagging RSA/ECC-protected channels exposed to harvest-now-decrypt-later exfiltration, mapped against NIST PQC (Kyber/Dilithium) migration guidance</a:t>
            </a:r>
          </a:p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35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Data Protection: </a:t>
            </a:r>
            <a:r>
              <a:rPr b="0" lang="en-IN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telemetry and transaction data is encrypted in transit (TLS 1.3) and at rest (AES-256), with sensitive fields tokenised/masked before reaching the ML layer so raw PII never leaves the secure zone</a:t>
            </a:r>
          </a:p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35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Access Control: </a:t>
            </a:r>
            <a:r>
              <a:rPr b="0" lang="en-IN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role-based access control (RBAC) with least-privilege defaults, mandatory MFA for analyst and admin logins, and full immutable audit logging of every query and action</a:t>
            </a:r>
          </a:p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35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Compliance by Design: </a:t>
            </a:r>
            <a:r>
              <a:rPr b="0" lang="en-IN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aligned with RBI cybersecurity framework, PCI-DSS and IT Act data-handling norms; explainable outputs make every flagged decision auditable end to end</a:t>
            </a:r>
          </a:p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5868"/>
              </a:buClr>
              <a:buFont typeface="Arial"/>
              <a:buChar char="●"/>
            </a:pPr>
            <a:r>
              <a:rPr b="1" lang="en-IN" sz="135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Safe Implementation: </a:t>
            </a:r>
            <a:r>
              <a:rPr b="0" lang="en-IN" sz="13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runs in shadow/monitor-only mode during pilot so no live transaction is blocked incorrectly; adversarial-robustness testing guards the model itself against poisoning or evasion attempts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3797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diagram &amp; Images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ArchBox1"/>
          <p:cNvSpPr/>
          <p:nvPr/>
        </p:nvSpPr>
        <p:spPr>
          <a:xfrm>
            <a:off x="300000" y="1550000"/>
            <a:ext cx="1188720" cy="1100000"/>
          </a:xfrm>
          <a:prstGeom prst="roundRect">
            <a:avLst/>
          </a:prstGeom>
          <a:solidFill>
            <a:srgbClr val="215868"/>
          </a:solidFill>
          <a:ln>
            <a:noFill/>
          </a:ln>
        </p:spPr>
        <p:txBody>
          <a:bodyPr anchorCtr="0" anchor="ctr" bIns="45700" lIns="91425" rIns="91425" tIns="45700" wrap="square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IN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Sources</a:t>
            </a: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E8F1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Telemetry + Transactions</a:t>
            </a:r>
            <a:endParaRPr b="0" sz="800">
              <a:solidFill>
                <a:srgbClr val="E8F1F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ArchBox2"/>
          <p:cNvSpPr/>
          <p:nvPr/>
        </p:nvSpPr>
        <p:spPr>
          <a:xfrm>
            <a:off x="1831620" y="1550000"/>
            <a:ext cx="1188720" cy="1100000"/>
          </a:xfrm>
          <a:prstGeom prst="roundRect">
            <a:avLst/>
          </a:prstGeom>
          <a:solidFill>
            <a:srgbClr val="4A8FA3"/>
          </a:solidFill>
          <a:ln>
            <a:noFill/>
          </a:ln>
        </p:spPr>
        <p:txBody>
          <a:bodyPr anchorCtr="0" anchor="ctr" bIns="45700" lIns="91425" rIns="91425" tIns="45700" wrap="square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IN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Ingestion &amp; Identity Graph</a:t>
            </a: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E8F1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Kafka + Entity Resolution</a:t>
            </a:r>
            <a:endParaRPr b="0" sz="800">
              <a:solidFill>
                <a:srgbClr val="E8F1F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ArchBox3"/>
          <p:cNvSpPr/>
          <p:nvPr/>
        </p:nvSpPr>
        <p:spPr>
          <a:xfrm>
            <a:off x="3363240" y="1550000"/>
            <a:ext cx="1188720" cy="1100000"/>
          </a:xfrm>
          <a:prstGeom prst="roundRect">
            <a:avLst/>
          </a:prstGeom>
          <a:solidFill>
            <a:srgbClr val="215868"/>
          </a:solidFill>
          <a:ln>
            <a:noFill/>
          </a:ln>
        </p:spPr>
        <p:txBody>
          <a:bodyPr anchorCtr="0" anchor="ctr" bIns="45700" lIns="91425" rIns="91425" tIns="45700" wrap="square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IN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Correlation Engine</a:t>
            </a: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E8F1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Graph + Anomaly Models</a:t>
            </a:r>
            <a:endParaRPr b="0" sz="800">
              <a:solidFill>
                <a:srgbClr val="E8F1F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ArchBox4"/>
          <p:cNvSpPr/>
          <p:nvPr/>
        </p:nvSpPr>
        <p:spPr>
          <a:xfrm>
            <a:off x="4894860" y="1550000"/>
            <a:ext cx="1188720" cy="1100000"/>
          </a:xfrm>
          <a:prstGeom prst="roundRect">
            <a:avLst/>
          </a:prstGeom>
          <a:solidFill>
            <a:srgbClr val="4A8FA3"/>
          </a:solidFill>
          <a:ln>
            <a:noFill/>
          </a:ln>
        </p:spPr>
        <p:txBody>
          <a:bodyPr anchorCtr="0" anchor="ctr" bIns="45700" lIns="91425" rIns="91425" tIns="45700" wrap="square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IN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Explainability Layer</a:t>
            </a: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E8F1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SHAP Reasoning</a:t>
            </a:r>
            <a:endParaRPr b="0" sz="800">
              <a:solidFill>
                <a:srgbClr val="E8F1F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5" name="ArchBox5"/>
          <p:cNvSpPr/>
          <p:nvPr/>
        </p:nvSpPr>
        <p:spPr>
          <a:xfrm>
            <a:off x="6426480" y="1550000"/>
            <a:ext cx="1188720" cy="1100000"/>
          </a:xfrm>
          <a:prstGeom prst="roundRect">
            <a:avLst/>
          </a:prstGeom>
          <a:solidFill>
            <a:srgbClr val="215868"/>
          </a:solidFill>
          <a:ln>
            <a:noFill/>
          </a:ln>
        </p:spPr>
        <p:txBody>
          <a:bodyPr anchorCtr="0" anchor="ctr" bIns="45700" lIns="91425" rIns="91425" tIns="45700" wrap="square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IN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Analyst Dashboard</a:t>
            </a: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E8F1F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Ranked, Actionable Alerts</a:t>
            </a:r>
            <a:endParaRPr b="0" sz="800">
              <a:solidFill>
                <a:srgbClr val="E8F1F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ArchArrow1"/>
          <p:cNvSpPr/>
          <p:nvPr/>
        </p:nvSpPr>
        <p:spPr>
          <a:xfrm>
            <a:off x="1530170" y="1970000"/>
            <a:ext cx="260000" cy="26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txBody>
          <a:bodyPr/>
          <a:lstStyle/>
          <a:p>
            <a:pPr algn="ctr"/>
          </a:p>
        </p:txBody>
      </p:sp>
      <p:sp>
        <p:nvSpPr>
          <p:cNvPr id="207" name="ArchArrow2"/>
          <p:cNvSpPr/>
          <p:nvPr/>
        </p:nvSpPr>
        <p:spPr>
          <a:xfrm>
            <a:off x="3061790" y="1970000"/>
            <a:ext cx="260000" cy="26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txBody>
          <a:bodyPr/>
          <a:lstStyle/>
          <a:p>
            <a:pPr algn="ctr"/>
          </a:p>
        </p:txBody>
      </p:sp>
      <p:sp>
        <p:nvSpPr>
          <p:cNvPr id="208" name="ArchArrow3"/>
          <p:cNvSpPr/>
          <p:nvPr/>
        </p:nvSpPr>
        <p:spPr>
          <a:xfrm>
            <a:off x="4593410" y="1970000"/>
            <a:ext cx="260000" cy="26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txBody>
          <a:bodyPr/>
          <a:lstStyle/>
          <a:p>
            <a:pPr algn="ctr"/>
          </a:p>
        </p:txBody>
      </p:sp>
      <p:sp>
        <p:nvSpPr>
          <p:cNvPr id="209" name="ArchArrow4"/>
          <p:cNvSpPr/>
          <p:nvPr/>
        </p:nvSpPr>
        <p:spPr>
          <a:xfrm>
            <a:off x="6125030" y="1970000"/>
            <a:ext cx="260000" cy="260000"/>
          </a:xfrm>
          <a:prstGeom prst="rightArrow">
            <a:avLst/>
          </a:prstGeom>
          <a:solidFill>
            <a:srgbClr val="B0BEC5"/>
          </a:solidFill>
          <a:ln>
            <a:noFill/>
          </a:ln>
        </p:spPr>
        <p:txBody>
          <a:bodyPr/>
          <a:lstStyle/>
          <a:p>
            <a:pPr algn="ctr"/>
          </a:p>
        </p:txBody>
      </p:sp>
      <p:sp>
        <p:nvSpPr>
          <p:cNvPr id="210" name="QuantumModule"/>
          <p:cNvSpPr/>
          <p:nvPr/>
        </p:nvSpPr>
        <p:spPr>
          <a:xfrm>
            <a:off x="2707600" y="3100000"/>
            <a:ext cx="2500000" cy="750000"/>
          </a:xfrm>
          <a:prstGeom prst="roundRect">
            <a:avLst/>
          </a:prstGeom>
          <a:solidFill>
            <a:srgbClr val="FFD449"/>
          </a:solidFill>
          <a:ln>
            <a:noFill/>
          </a:ln>
        </p:spPr>
        <p:txBody>
          <a:bodyPr anchorCtr="0" anchor="ctr" bIns="45700" lIns="91425" rIns="91425" tIns="45700" wrap="square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IN" sz="10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Quantum-Risk Module</a:t>
            </a: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PQC Exposure Scoring (NIST Kyber / Dilithium)</a:t>
            </a:r>
            <a:endParaRPr b="0" sz="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11" name="QuantumConnector"/>
          <p:cNvCxnSpPr/>
          <p:nvPr/>
        </p:nvCxnSpPr>
        <p:spPr>
          <a:xfrm flipV="1">
            <a:off x="3957600" y="2650000"/>
            <a:ext cx="0" cy="450000"/>
          </a:xfrm>
          <a:prstGeom prst="straightConnector1">
            <a:avLst/>
          </a:prstGeom>
          <a:ln w="19050">
            <a:solidFill>
              <a:srgbClr val="FFD449"/>
            </a:solidFill>
            <a:tailEnd type="triangle"/>
          </a:ln>
        </p:spPr>
      </p:cxnSp>
      <p:sp>
        <p:nvSpPr>
          <p:cNvPr id="212" name="ArchCaption"/>
          <p:cNvSpPr txBox="1"/>
          <p:nvPr/>
        </p:nvSpPr>
        <p:spPr>
          <a:xfrm>
            <a:off x="300000" y="4050000"/>
            <a:ext cx="7315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rIns="91425" tIns="45700" wrap="square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IN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Telemetry and transaction streams flow left to right through the correlation engine; the quantum-risk module continuously feeds encryption-exposure scores into that same engine.</a:t>
            </a:r>
            <a:endParaRPr b="0" i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 Screenshots &amp; Demo</a:t>
            </a:r>
            <a:endParaRPr b="0" i="0" sz="1400" u="none" cap="none" strike="noStrike">
              <a:solidFill>
                <a:srgbClr val="2158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BrowserFrame"/>
          <p:cNvSpPr/>
          <p:nvPr/>
        </p:nvSpPr>
        <p:spPr>
          <a:xfrm>
            <a:off x="300000" y="1250000"/>
            <a:ext cx="8150000" cy="2350000"/>
          </a:xfrm>
          <a:prstGeom prst="roundRect">
            <a:avLst>
              <a:gd name="adj" fmla="val 3000"/>
            </a:avLst>
          </a:prstGeom>
          <a:solidFill>
            <a:srgbClr val="F2F6F7"/>
          </a:solidFill>
          <a:ln w="12700">
            <a:solidFill>
              <a:srgbClr val="C7D6D9"/>
            </a:solidFill>
          </a:ln>
        </p:spPr>
        <p:txBody>
          <a:bodyPr/>
          <a:lstStyle/>
          <a:p>
            <a:pPr algn="ctr"/>
          </a:p>
        </p:txBody>
      </p:sp>
      <p:sp>
        <p:nvSpPr>
          <p:cNvPr id="301" name="TopBar"/>
          <p:cNvSpPr/>
          <p:nvPr/>
        </p:nvSpPr>
        <p:spPr>
          <a:xfrm>
            <a:off x="300000" y="1250000"/>
            <a:ext cx="8150000" cy="320000"/>
          </a:xfrm>
          <a:prstGeom prst="round2SameRect">
            <a:avLst/>
          </a:prstGeom>
          <a:solidFill>
            <a:srgbClr val="215868"/>
          </a:solidFill>
          <a:ln>
            <a:noFill/>
          </a:ln>
        </p:spPr>
        <p:txBody>
          <a:bodyPr anchor="ctr" lIns="180000"/>
          <a:lstStyle/>
          <a:p>
            <a:pPr algn="l">
              <a:buNone/>
            </a:pPr>
            <a:r>
              <a:rPr b="1" lang="en-IN" sz="1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Q-SENTINEL — Analyst Console (Prototype Mockup)</a:t>
            </a:r>
          </a:p>
        </p:txBody>
      </p:sp>
      <p:sp>
        <p:nvSpPr>
          <p:cNvPr id="302" name="AlertFeedPanel"/>
          <p:cNvSpPr/>
          <p:nvPr/>
        </p:nvSpPr>
        <p:spPr>
          <a:xfrm>
            <a:off x="450000" y="1720000"/>
            <a:ext cx="3600000" cy="17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E1E3"/>
            </a:solidFill>
          </a:ln>
        </p:spPr>
        <p:txBody>
          <a:bodyPr anchor="t" lIns="140000" tIns="120000"/>
          <a:lstStyle/>
          <a:p>
            <a:pPr algn="l">
              <a:spcAft>
                <a:spcPts val="500"/>
              </a:spcAft>
              <a:buNone/>
            </a:pPr>
            <a:r>
              <a:rPr b="1" lang="en-IN" sz="11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Alert Feed</a:t>
            </a:r>
          </a:p>
          <a:p>
            <a:pPr algn="l">
              <a:spcAft>
                <a:spcPts val="400"/>
              </a:spcAft>
              <a:buNone/>
            </a:pPr>
            <a:r>
              <a:rPr b="1" lang="en-IN" sz="950">
                <a:solidFill>
                  <a:srgbClr val="C0392B"/>
                </a:solidFill>
                <a:latin typeface="Quattrocento Sans"/>
              </a:rPr>
              <a:t xml:space="preserve">● HIGH — </a:t>
            </a:r>
            <a:r>
              <a:rPr b="0" lang="en-IN" sz="950">
                <a:solidFill>
                  <a:schemeClr val="dk1"/>
                </a:solidFill>
                <a:latin typeface="Quattrocento Sans"/>
              </a:rPr>
              <a:t>Device mismatch + high-value transfer</a:t>
            </a:r>
          </a:p>
          <a:p>
            <a:pPr algn="l">
              <a:spcAft>
                <a:spcPts val="400"/>
              </a:spcAft>
              <a:buNone/>
            </a:pPr>
            <a:r>
              <a:rPr b="1" lang="en-IN" sz="950">
                <a:solidFill>
                  <a:srgbClr val="E08E0B"/>
                </a:solidFill>
                <a:latin typeface="Quattrocento Sans"/>
              </a:rPr>
              <a:t xml:space="preserve">● MEDIUM — </a:t>
            </a:r>
            <a:r>
              <a:rPr b="0" lang="en-IN" sz="950">
                <a:solidFill>
                  <a:schemeClr val="dk1"/>
                </a:solidFill>
                <a:latin typeface="Quattrocento Sans"/>
              </a:rPr>
              <a:t>Legacy-encrypted channel flagged</a:t>
            </a:r>
          </a:p>
          <a:p>
            <a:pPr algn="l">
              <a:spcAft>
                <a:spcPts val="0"/>
              </a:spcAft>
              <a:buNone/>
            </a:pPr>
            <a:r>
              <a:rPr b="1" lang="en-IN" sz="950">
                <a:solidFill>
                  <a:srgbClr val="7FA650"/>
                </a:solidFill>
                <a:latin typeface="Quattrocento Sans"/>
              </a:rPr>
              <a:t xml:space="preserve">● LOW — </a:t>
            </a:r>
            <a:r>
              <a:rPr b="0" lang="en-IN" sz="950">
                <a:solidFill>
                  <a:schemeClr val="dk1"/>
                </a:solidFill>
                <a:latin typeface="Quattrocento Sans"/>
              </a:rPr>
              <a:t>Unusual login location</a:t>
            </a:r>
            <a:endParaRPr sz="950"/>
          </a:p>
        </p:txBody>
      </p:sp>
      <p:sp>
        <p:nvSpPr>
          <p:cNvPr id="303" name="AlertDetailPanel"/>
          <p:cNvSpPr/>
          <p:nvPr/>
        </p:nvSpPr>
        <p:spPr>
          <a:xfrm>
            <a:off x="4200000" y="1720000"/>
            <a:ext cx="4100000" cy="17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E1E3"/>
            </a:solidFill>
          </a:ln>
        </p:spPr>
        <p:txBody>
          <a:bodyPr anchor="t" lIns="140000" tIns="120000"/>
          <a:lstStyle/>
          <a:p>
            <a:pPr algn="l">
              <a:spcAft>
                <a:spcPts val="500"/>
              </a:spcAft>
              <a:buNone/>
            </a:pPr>
            <a:r>
              <a:rPr b="1" lang="en-IN" sz="11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Alert Detail — Explainable Rationale</a:t>
            </a:r>
          </a:p>
          <a:p>
            <a:pPr algn="l">
              <a:spcAft>
                <a:spcPts val="500"/>
              </a:spcAft>
              <a:buNone/>
            </a:pPr>
            <a:r>
              <a:rPr b="0" lang="en-IN" sz="950">
                <a:solidFill>
                  <a:schemeClr val="dk1"/>
                </a:solidFill>
                <a:latin typeface="Quattrocento Sans"/>
              </a:rPr>
              <a:t>"Flagged because: new device (72% weight) + transfer 4x above 90-day average (21%) + destination account opened &lt;30 days ago (7%)."</a:t>
            </a:r>
          </a:p>
          <a:p>
            <a:pPr algn="l">
              <a:spcAft>
                <a:spcPts val="0"/>
              </a:spcAft>
              <a:buNone/>
            </a:pPr>
            <a:r>
              <a:rPr b="1" lang="en-IN" sz="950">
                <a:solidFill>
                  <a:srgbClr val="B8860B"/>
                </a:solidFill>
                <a:latin typeface="Quattrocento Sans"/>
              </a:rPr>
              <a:t xml:space="preserve">Quantum-Risk Score: 41/100 — </a:t>
            </a:r>
            <a:r>
              <a:rPr b="0" lang="en-IN" sz="950">
                <a:solidFill>
                  <a:schemeClr val="dk1"/>
                </a:solidFill>
                <a:latin typeface="Quattrocento Sans"/>
              </a:rPr>
              <a:t>channel uses RSA-2048, migration to PQC recommended</a:t>
            </a:r>
            <a:endParaRPr sz="950"/>
          </a:p>
        </p:txBody>
      </p:sp>
      <p:sp>
        <p:nvSpPr>
          <p:cNvPr id="305" name="LinksCaption"/>
          <p:cNvSpPr txBox="1"/>
          <p:nvPr/>
        </p:nvSpPr>
        <p:spPr>
          <a:xfrm>
            <a:off x="300000" y="3750000"/>
            <a:ext cx="8150000" cy="900000"/>
          </a:xfrm>
          <a:prstGeom prst="rect">
            <a:avLst/>
          </a:prstGeom>
          <a:noFill/>
          <a:ln>
            <a:noFill/>
          </a:ln>
        </p:spPr>
        <p:txBody>
          <a:bodyPr anchor="t" lIns="0" tIns="45700"/>
          <a:lstStyle/>
          <a:p>
            <a:pPr algn="l">
              <a:spcAft>
                <a:spcPts val="500"/>
              </a:spcAft>
              <a:buNone/>
            </a:pPr>
            <a:r>
              <a:rPr b="1" lang="en-IN" sz="13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GitHub: </a:t>
            </a:r>
            <a:r>
              <a:rPr b="0" i="1" lang="en-IN" sz="1300" u="sng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xmlns:r="http://schemas.openxmlformats.org/officeDocument/2006/relationships" r:id="rIdGitHubLink"/>
              </a:rPr>
              <a:t>https://github.com/niharikasingh09/Q-Sentinel</a:t>
            </a:r>
          </a:p>
          <a:p>
            <a:pPr algn="l">
              <a:spcAft>
                <a:spcPts val="0"/>
              </a:spcAft>
              <a:buNone/>
            </a:pPr>
            <a:r>
              <a:rPr b="1" lang="en-IN" sz="13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Demo Video: </a:t>
            </a:r>
            <a:r>
              <a:rPr b="0" i="1" lang="en-IN" sz="1150">
                <a:solidFill>
                  <a:schemeClr val="dk1"/>
                </a:solidFill>
                <a:hlinkClick xmlns:r="http://schemas.openxmlformats.org/officeDocument/2006/relationships" r:id="rIdDemoVideo"/>
                <a:latin typeface="Quattrocento Sans"/>
                <a:ea typeface="Quattrocento Sans"/>
                <a:cs typeface="Quattrocento Sans"/>
                <a:sym typeface="Quattrocento Sans"/>
              </a:rPr>
              <a:t>https://drive.google.com/file/d/1mHcpgtT9RvpUy0gjsJ60eM2NXBmEsJdO/view?usp=sharing</a:t>
            </a:r>
            <a:endParaRPr b="0" i="1" sz="11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/>
        </p:nvSpPr>
        <p:spPr>
          <a:xfrm>
            <a:off x="408614" y="2948556"/>
            <a:ext cx="86493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</a:pPr>
            <a:r>
              <a:rPr b="1" i="0" lang="en-IN" sz="36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1" i="0" sz="36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408625" y="3775951"/>
            <a:ext cx="82185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IN" sz="16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Quantums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Niharika Singh — B.Tech Final Year, Banasthali Vidyapith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IN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 to the Finspark Hackathon 2026 and Bank of Maharashtra for the opportunity to build Q-SENTINEL. We look forward to your questions.</a:t>
            </a:r>
            <a:endParaRPr b="0" i="1" sz="13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2024-06-09T08:34:46Z</dcterms:created>
  <dc:creator>Avinash Rohit</dc:creator>
</cp:coreProperties>
</file>